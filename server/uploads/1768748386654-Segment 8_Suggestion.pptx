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3" r:id="rId2"/>
    <p:sldId id="256" r:id="rId3"/>
    <p:sldId id="257" r:id="rId4"/>
    <p:sldId id="258" r:id="rId5"/>
    <p:sldId id="262" r:id="rId6"/>
    <p:sldId id="259"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72" d="100"/>
          <a:sy n="72" d="100"/>
        </p:scale>
        <p:origin x="-618"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pPr/>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pPr/>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312545" y="2209800"/>
            <a:ext cx="8642985" cy="583565"/>
          </a:xfrm>
          <a:prstGeom prst="rect">
            <a:avLst/>
          </a:prstGeom>
          <a:noFill/>
        </p:spPr>
        <p:txBody>
          <a:bodyPr wrap="square" rtlCol="0">
            <a:spAutoFit/>
          </a:bodyPr>
          <a:lstStyle/>
          <a:p>
            <a:r>
              <a:rPr lang="en-US" sz="3200">
                <a:solidFill>
                  <a:srgbClr val="FF0000"/>
                </a:solidFill>
              </a:rPr>
              <a:t>For Segment 8 this shorter version is enough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67970" y="333375"/>
            <a:ext cx="11536045" cy="4399915"/>
          </a:xfrm>
          <a:prstGeom prst="rect">
            <a:avLst/>
          </a:prstGeom>
        </p:spPr>
        <p:txBody>
          <a:bodyPr wrap="square">
            <a:spAutoFit/>
          </a:bodyPr>
          <a:lstStyle/>
          <a:p>
            <a:r>
              <a:rPr lang="en-US" sz="2000" b="1">
                <a:solidFill>
                  <a:srgbClr val="2C2926"/>
                </a:solidFill>
                <a:latin typeface="Times New Roman" panose="02020603050405020304" charset="0"/>
                <a:ea typeface="BricolageGrotesque-SemiBold"/>
                <a:cs typeface="Times New Roman" panose="02020603050405020304" charset="0"/>
              </a:rPr>
              <a:t>I</a:t>
            </a:r>
            <a:r>
              <a:rPr sz="2000" b="1">
                <a:solidFill>
                  <a:srgbClr val="2C2926"/>
                </a:solidFill>
                <a:latin typeface="Times New Roman" panose="02020603050405020304" charset="0"/>
                <a:ea typeface="BricolageGrotesque-SemiBold"/>
                <a:cs typeface="Times New Roman" panose="02020603050405020304" charset="0"/>
              </a:rPr>
              <a:t>ntroduction to IoT: Core Concepts and Technology Fundamentals</a:t>
            </a:r>
          </a:p>
          <a:p>
            <a:endParaRPr sz="1600">
              <a:solidFill>
                <a:srgbClr val="2C2926"/>
              </a:solidFill>
              <a:latin typeface="Times New Roman" panose="02020603050405020304" charset="0"/>
              <a:ea typeface="BricolageGrotesque-SemiBold"/>
              <a:cs typeface="Times New Roman" panose="02020603050405020304" charset="0"/>
            </a:endParaRPr>
          </a:p>
          <a:p>
            <a:r>
              <a:rPr lang="en-US" altLang="en-US" b="1">
                <a:solidFill>
                  <a:srgbClr val="2C2926"/>
                </a:solidFill>
                <a:latin typeface="Times New Roman" panose="02020603050405020304" charset="0"/>
                <a:ea typeface="BricolageGrotesque-SemiBold"/>
                <a:cs typeface="Times New Roman" panose="02020603050405020304" charset="0"/>
              </a:rPr>
              <a:t>What is the Internet of Things (IoT)?</a:t>
            </a:r>
          </a:p>
          <a:p>
            <a:pPr algn="just"/>
            <a:r>
              <a:rPr lang="en-US" altLang="en-US" sz="1600">
                <a:solidFill>
                  <a:srgbClr val="2C2926"/>
                </a:solidFill>
                <a:latin typeface="Times New Roman" panose="02020603050405020304" charset="0"/>
                <a:ea typeface="BricolageGrotesque-SemiBold"/>
                <a:cs typeface="Times New Roman" panose="02020603050405020304" charset="0"/>
              </a:rPr>
              <a:t>The Internet of Things (IoT) is a network of physical objects -"things" - embedded with sensors, software, and other technologies for the purpose of connecting and exchanging data with other devices and systems over the internet. These devices range from ordinary household objects to sophisticated industrial tools.</a:t>
            </a: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b="1">
                <a:solidFill>
                  <a:srgbClr val="2C2926"/>
                </a:solidFill>
                <a:latin typeface="Times New Roman" panose="02020603050405020304" charset="0"/>
                <a:ea typeface="BricolageGrotesque-SemiBold"/>
                <a:cs typeface="Times New Roman" panose="02020603050405020304" charset="0"/>
              </a:rPr>
              <a:t>Key Characteristics of IoT:</a:t>
            </a: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rPr>
              <a:t>Connectivity:</a:t>
            </a:r>
            <a:r>
              <a:rPr lang="en-US" altLang="en-US" sz="1600">
                <a:solidFill>
                  <a:srgbClr val="2C2926"/>
                </a:solidFill>
                <a:latin typeface="Times New Roman" panose="02020603050405020304" charset="0"/>
                <a:ea typeface="BricolageGrotesque-SemiBold"/>
                <a:cs typeface="Times New Roman" panose="02020603050405020304" charset="0"/>
              </a:rPr>
              <a:t> enabling communication between themselves and with cloud platforms</a:t>
            </a:r>
          </a:p>
          <a:p>
            <a:r>
              <a:rPr lang="en-US" altLang="en-US" sz="1600" b="1">
                <a:solidFill>
                  <a:srgbClr val="2C2926"/>
                </a:solidFill>
                <a:latin typeface="Times New Roman" panose="02020603050405020304" charset="0"/>
                <a:ea typeface="BricolageGrotesque-SemiBold"/>
                <a:cs typeface="Times New Roman" panose="02020603050405020304" charset="0"/>
              </a:rPr>
              <a:t>Data Exchange: </a:t>
            </a:r>
            <a:r>
              <a:rPr lang="en-US" altLang="en-US" sz="1600">
                <a:solidFill>
                  <a:srgbClr val="2C2926"/>
                </a:solidFill>
                <a:latin typeface="Times New Roman" panose="02020603050405020304" charset="0"/>
                <a:ea typeface="BricolageGrotesque-SemiBold"/>
                <a:cs typeface="Times New Roman" panose="02020603050405020304" charset="0"/>
              </a:rPr>
              <a:t>provides valuable insights for decision-making and automation</a:t>
            </a:r>
          </a:p>
          <a:p>
            <a:r>
              <a:rPr lang="en-US" altLang="en-US" sz="1600" b="1">
                <a:solidFill>
                  <a:srgbClr val="2C2926"/>
                </a:solidFill>
                <a:latin typeface="Times New Roman" panose="02020603050405020304" charset="0"/>
                <a:ea typeface="BricolageGrotesque-SemiBold"/>
                <a:cs typeface="Times New Roman" panose="02020603050405020304" charset="0"/>
              </a:rPr>
              <a:t>Interoperability: </a:t>
            </a:r>
            <a:r>
              <a:rPr lang="en-US" altLang="en-US" sz="1600">
                <a:solidFill>
                  <a:srgbClr val="2C2926"/>
                </a:solidFill>
                <a:latin typeface="Times New Roman" panose="02020603050405020304" charset="0"/>
                <a:ea typeface="BricolageGrotesque-SemiBold"/>
                <a:cs typeface="Times New Roman" panose="02020603050405020304" charset="0"/>
              </a:rPr>
              <a:t>The ability to work together and exchange information regardless of protocol.</a:t>
            </a:r>
          </a:p>
          <a:p>
            <a:r>
              <a:rPr lang="en-US" altLang="en-US" sz="1600" b="1">
                <a:solidFill>
                  <a:srgbClr val="2C2926"/>
                </a:solidFill>
                <a:latin typeface="Times New Roman" panose="02020603050405020304" charset="0"/>
                <a:ea typeface="BricolageGrotesque-SemiBold"/>
                <a:cs typeface="Times New Roman" panose="02020603050405020304" charset="0"/>
              </a:rPr>
              <a:t>Automation:</a:t>
            </a:r>
            <a:r>
              <a:rPr lang="en-US" altLang="en-US" sz="1600">
                <a:solidFill>
                  <a:srgbClr val="2C2926"/>
                </a:solidFill>
                <a:latin typeface="Times New Roman" panose="02020603050405020304" charset="0"/>
                <a:ea typeface="BricolageGrotesque-SemiBold"/>
                <a:cs typeface="Times New Roman" panose="02020603050405020304" charset="0"/>
              </a:rPr>
              <a:t> can automate processes and without human intervention</a:t>
            </a: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rPr>
              <a:t>IoT Network Topologies:</a:t>
            </a:r>
            <a:r>
              <a:rPr lang="en-US" altLang="en-US" sz="1600">
                <a:solidFill>
                  <a:srgbClr val="2C2926"/>
                </a:solidFill>
                <a:latin typeface="Times New Roman" panose="02020603050405020304" charset="0"/>
                <a:ea typeface="BricolageGrotesque-SemiBold"/>
                <a:cs typeface="Times New Roman" panose="02020603050405020304" charset="0"/>
              </a:rPr>
              <a:t> Star, Tree, Mesh</a:t>
            </a:r>
          </a:p>
          <a:p>
            <a:endParaRPr lang="en-US" altLang="en-US" sz="1600">
              <a:solidFill>
                <a:srgbClr val="2C2926"/>
              </a:solidFill>
              <a:latin typeface="Times New Roman" panose="02020603050405020304" charset="0"/>
              <a:ea typeface="BricolageGrotesque-SemiBold"/>
              <a:cs typeface="Times New Roman" panose="02020603050405020304" charset="0"/>
            </a:endParaRPr>
          </a:p>
          <a:p>
            <a:endParaRPr lang="en-US" altLang="en-US" sz="1600">
              <a:solidFill>
                <a:srgbClr val="2C2926"/>
              </a:solidFill>
              <a:latin typeface="Times New Roman" panose="02020603050405020304" charset="0"/>
              <a:ea typeface="BricolageGrotesque-SemiBold"/>
              <a:cs typeface="Times New Roman" panose="02020603050405020304" charset="0"/>
            </a:endParaRPr>
          </a:p>
        </p:txBody>
      </p:sp>
      <p:sp>
        <p:nvSpPr>
          <p:cNvPr id="6" name="Text Box 5"/>
          <p:cNvSpPr txBox="1"/>
          <p:nvPr/>
        </p:nvSpPr>
        <p:spPr>
          <a:xfrm>
            <a:off x="264795" y="4255770"/>
            <a:ext cx="4824095" cy="1953260"/>
          </a:xfrm>
          <a:prstGeom prst="rect">
            <a:avLst/>
          </a:prstGeom>
        </p:spPr>
        <p:txBody>
          <a:bodyPr wrap="square">
            <a:spAutoFit/>
          </a:bodyPr>
          <a:lstStyle/>
          <a:p>
            <a:r>
              <a:rPr sz="2000" b="1">
                <a:solidFill>
                  <a:srgbClr val="2C2926"/>
                </a:solidFill>
                <a:latin typeface="Times New Roman" panose="02020603050405020304" charset="0"/>
                <a:ea typeface="BricolageGrotesque-SemiBold"/>
                <a:cs typeface="Times New Roman" panose="02020603050405020304" charset="0"/>
              </a:rPr>
              <a:t>Core Principles of IoT</a:t>
            </a:r>
            <a:r>
              <a:rPr sz="3100" b="1">
                <a:solidFill>
                  <a:srgbClr val="2C2926"/>
                </a:solidFill>
                <a:latin typeface="Times New Roman" panose="02020603050405020304" charset="0"/>
                <a:ea typeface="BricolageGrotesque-SemiBold"/>
                <a:cs typeface="Times New Roman" panose="02020603050405020304" charset="0"/>
              </a:rPr>
              <a:t> </a:t>
            </a:r>
          </a:p>
          <a:p>
            <a:r>
              <a:rPr>
                <a:solidFill>
                  <a:srgbClr val="2C2926"/>
                </a:solidFill>
                <a:latin typeface="Times New Roman" panose="02020603050405020304" charset="0"/>
                <a:ea typeface="BricolageGrotesque-SemiBold"/>
                <a:cs typeface="Times New Roman" panose="02020603050405020304" charset="0"/>
              </a:rPr>
              <a:t>1 Scalability </a:t>
            </a:r>
          </a:p>
          <a:p>
            <a:r>
              <a:rPr>
                <a:solidFill>
                  <a:srgbClr val="2C2926"/>
                </a:solidFill>
                <a:latin typeface="Times New Roman" panose="02020603050405020304" charset="0"/>
                <a:ea typeface="BricolageGrotesque-SemiBold"/>
                <a:cs typeface="Times New Roman" panose="02020603050405020304" charset="0"/>
              </a:rPr>
              <a:t>2 Security </a:t>
            </a:r>
            <a:r>
              <a:rPr>
                <a:solidFill>
                  <a:srgbClr val="2C2926"/>
                </a:solidFill>
                <a:latin typeface="Times New Roman" panose="02020603050405020304" charset="0"/>
                <a:ea typeface="Inter"/>
                <a:cs typeface="Times New Roman" panose="02020603050405020304" charset="0"/>
              </a:rPr>
              <a:t> </a:t>
            </a:r>
          </a:p>
          <a:p>
            <a:r>
              <a:rPr>
                <a:solidFill>
                  <a:srgbClr val="2C2926"/>
                </a:solidFill>
                <a:latin typeface="Times New Roman" panose="02020603050405020304" charset="0"/>
                <a:ea typeface="BricolageGrotesque-SemiBold"/>
                <a:cs typeface="Times New Roman" panose="02020603050405020304" charset="0"/>
              </a:rPr>
              <a:t>3 Privacy </a:t>
            </a:r>
          </a:p>
          <a:p>
            <a:r>
              <a:rPr>
                <a:solidFill>
                  <a:srgbClr val="2C2926"/>
                </a:solidFill>
                <a:latin typeface="Times New Roman" panose="02020603050405020304" charset="0"/>
                <a:ea typeface="BricolageGrotesque-SemiBold"/>
                <a:cs typeface="Times New Roman" panose="02020603050405020304" charset="0"/>
              </a:rPr>
              <a:t>4 Intelligence </a:t>
            </a:r>
            <a:r>
              <a:rPr>
                <a:solidFill>
                  <a:srgbClr val="2C2926"/>
                </a:solidFill>
                <a:latin typeface="Times New Roman" panose="02020603050405020304" charset="0"/>
                <a:ea typeface="Inter"/>
                <a:cs typeface="Times New Roman" panose="02020603050405020304" charset="0"/>
              </a:rPr>
              <a:t> </a:t>
            </a:r>
          </a:p>
          <a:p>
            <a:r>
              <a:rPr>
                <a:solidFill>
                  <a:srgbClr val="2C2926"/>
                </a:solidFill>
                <a:latin typeface="Times New Roman" panose="02020603050405020304" charset="0"/>
                <a:ea typeface="BricolageGrotesque-SemiBold"/>
                <a:cs typeface="Times New Roman" panose="02020603050405020304" charset="0"/>
              </a:rPr>
              <a:t>5 Integration</a:t>
            </a:r>
            <a:r>
              <a:rPr>
                <a:solidFill>
                  <a:srgbClr val="2C2926"/>
                </a:solidFill>
                <a:latin typeface="BricolageGrotesque-SemiBold"/>
                <a:ea typeface="BricolageGrotesque-SemiBold"/>
              </a:rPr>
              <a:t> </a:t>
            </a:r>
            <a:endParaRPr>
              <a:solidFill>
                <a:srgbClr val="2C2926"/>
              </a:solidFill>
              <a:latin typeface="Inter"/>
              <a:ea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28625" y="265430"/>
            <a:ext cx="5464175" cy="337185"/>
          </a:xfrm>
          <a:prstGeom prst="rect">
            <a:avLst/>
          </a:prstGeom>
        </p:spPr>
        <p:txBody>
          <a:bodyPr wrap="square">
            <a:spAutoFit/>
          </a:bodyPr>
          <a:lstStyle/>
          <a:p>
            <a:r>
              <a:rPr sz="1600" b="1">
                <a:solidFill>
                  <a:srgbClr val="2C2926"/>
                </a:solidFill>
                <a:latin typeface="Times New Roman" panose="02020603050405020304" charset="0"/>
                <a:ea typeface="BricolageGrotesque-SemiBold"/>
                <a:cs typeface="Times New Roman" panose="02020603050405020304" charset="0"/>
              </a:rPr>
              <a:t>IoT Architecture: Core</a:t>
            </a:r>
            <a:r>
              <a:rPr lang="en-US" sz="1600" b="1">
                <a:solidFill>
                  <a:srgbClr val="2C2926"/>
                </a:solidFill>
                <a:latin typeface="Times New Roman" panose="02020603050405020304" charset="0"/>
                <a:ea typeface="BricolageGrotesque-SemiBold"/>
                <a:cs typeface="Times New Roman" panose="02020603050405020304" charset="0"/>
              </a:rPr>
              <a:t>/</a:t>
            </a:r>
            <a:r>
              <a:rPr lang="en-US" altLang="en-US" sz="1600" b="1">
                <a:solidFill>
                  <a:srgbClr val="2C2926"/>
                </a:solidFill>
                <a:latin typeface="Times New Roman" panose="02020603050405020304" charset="0"/>
                <a:ea typeface="BricolageGrotesque-SemiBold"/>
                <a:cs typeface="Times New Roman" panose="02020603050405020304" charset="0"/>
                <a:sym typeface="+mn-ea"/>
              </a:rPr>
              <a:t>Fundamental</a:t>
            </a:r>
            <a:r>
              <a:rPr sz="1600" b="1">
                <a:solidFill>
                  <a:srgbClr val="2C2926"/>
                </a:solidFill>
                <a:latin typeface="Times New Roman" panose="02020603050405020304" charset="0"/>
                <a:ea typeface="BricolageGrotesque-SemiBold"/>
                <a:cs typeface="Times New Roman" panose="02020603050405020304" charset="0"/>
              </a:rPr>
              <a:t> Components</a:t>
            </a:r>
            <a:r>
              <a:rPr sz="1600" b="1">
                <a:solidFill>
                  <a:srgbClr val="2C2926"/>
                </a:solidFill>
                <a:latin typeface="BricolageGrotesque-SemiBold"/>
                <a:ea typeface="BricolageGrotesque-SemiBold"/>
              </a:rPr>
              <a:t> </a:t>
            </a:r>
            <a:endParaRPr lang="en-US" sz="1600" b="1">
              <a:solidFill>
                <a:srgbClr val="2C2926"/>
              </a:solidFill>
              <a:latin typeface="BricolageGrotesque-SemiBold"/>
              <a:ea typeface="BricolageGrotesque-SemiBold"/>
            </a:endParaRPr>
          </a:p>
        </p:txBody>
      </p:sp>
      <p:sp>
        <p:nvSpPr>
          <p:cNvPr id="5" name="Text Box 4"/>
          <p:cNvSpPr txBox="1"/>
          <p:nvPr/>
        </p:nvSpPr>
        <p:spPr>
          <a:xfrm>
            <a:off x="240030" y="942340"/>
            <a:ext cx="7031990" cy="2553335"/>
          </a:xfrm>
          <a:prstGeom prst="rect">
            <a:avLst/>
          </a:prstGeom>
          <a:noFill/>
        </p:spPr>
        <p:txBody>
          <a:bodyPr wrap="square" rtlCol="0" anchor="t">
            <a:spAutoFit/>
          </a:bodyPr>
          <a:lstStyle/>
          <a:p>
            <a:r>
              <a:rPr lang="en-US" altLang="en-US" sz="1600" b="1">
                <a:solidFill>
                  <a:srgbClr val="2C2926"/>
                </a:solidFill>
                <a:latin typeface="Times New Roman" panose="02020603050405020304" charset="0"/>
                <a:ea typeface="BricolageGrotesque-SemiBold"/>
                <a:cs typeface="Times New Roman" panose="02020603050405020304" charset="0"/>
                <a:sym typeface="+mn-ea"/>
              </a:rPr>
              <a:t>Sensing &amp; Actuation Layer:</a:t>
            </a:r>
            <a:r>
              <a:rPr lang="en-US" altLang="en-US" sz="1600">
                <a:solidFill>
                  <a:srgbClr val="2C2926"/>
                </a:solidFill>
                <a:latin typeface="Times New Roman" panose="02020603050405020304" charset="0"/>
                <a:ea typeface="BricolageGrotesque-SemiBold"/>
                <a:cs typeface="Times New Roman" panose="02020603050405020304" charset="0"/>
                <a:sym typeface="+mn-ea"/>
              </a:rPr>
              <a:t> Physical objects equipped with sensors,actuators </a:t>
            </a: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sym typeface="+mn-ea"/>
              </a:rPr>
              <a:t>Network &amp; Communication Protocols:</a:t>
            </a:r>
            <a:r>
              <a:rPr lang="en-US" altLang="en-US" sz="1600">
                <a:solidFill>
                  <a:srgbClr val="2C2926"/>
                </a:solidFill>
                <a:latin typeface="Times New Roman" panose="02020603050405020304" charset="0"/>
                <a:ea typeface="BricolageGrotesque-SemiBold"/>
                <a:cs typeface="Times New Roman" panose="02020603050405020304" charset="0"/>
                <a:sym typeface="+mn-ea"/>
              </a:rPr>
              <a:t> The communication layer connecting each other to the cloud</a:t>
            </a: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sym typeface="+mn-ea"/>
              </a:rPr>
              <a:t>Data Processing &amp; Management Systems:</a:t>
            </a:r>
            <a:r>
              <a:rPr lang="en-US" altLang="en-US" sz="1600">
                <a:solidFill>
                  <a:srgbClr val="2C2926"/>
                </a:solidFill>
                <a:latin typeface="Times New Roman" panose="02020603050405020304" charset="0"/>
                <a:ea typeface="BricolageGrotesque-SemiBold"/>
                <a:cs typeface="Times New Roman" panose="02020603050405020304" charset="0"/>
                <a:sym typeface="+mn-ea"/>
              </a:rPr>
              <a:t> Data Processing infrastructure (cloud platforms, edge computing) </a:t>
            </a: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sym typeface="+mn-ea"/>
              </a:rPr>
              <a:t>Application &amp; User Interface: </a:t>
            </a:r>
            <a:r>
              <a:rPr lang="en-US" altLang="en-US" sz="1600">
                <a:solidFill>
                  <a:srgbClr val="2C2926"/>
                </a:solidFill>
                <a:latin typeface="Times New Roman" panose="02020603050405020304" charset="0"/>
                <a:ea typeface="BricolageGrotesque-SemiBold"/>
                <a:cs typeface="Times New Roman" panose="02020603050405020304" charset="0"/>
                <a:sym typeface="+mn-ea"/>
              </a:rPr>
              <a:t>User Interface - Applications, dashboards, allowing users to interact and control devices.</a:t>
            </a:r>
          </a:p>
        </p:txBody>
      </p:sp>
      <p:pic>
        <p:nvPicPr>
          <p:cNvPr id="6" name="Picture 5"/>
          <p:cNvPicPr>
            <a:picLocks noChangeAspect="1"/>
          </p:cNvPicPr>
          <p:nvPr/>
        </p:nvPicPr>
        <p:blipFill>
          <a:blip r:embed="rId2" cstate="print"/>
          <a:stretch>
            <a:fillRect/>
          </a:stretch>
        </p:blipFill>
        <p:spPr>
          <a:xfrm>
            <a:off x="353695" y="3483610"/>
            <a:ext cx="5600065" cy="3200400"/>
          </a:xfrm>
          <a:prstGeom prst="rect">
            <a:avLst/>
          </a:prstGeom>
        </p:spPr>
      </p:pic>
      <p:pic>
        <p:nvPicPr>
          <p:cNvPr id="2" name="Picture 1"/>
          <p:cNvPicPr>
            <a:picLocks noChangeAspect="1"/>
          </p:cNvPicPr>
          <p:nvPr/>
        </p:nvPicPr>
        <p:blipFill>
          <a:blip r:embed="rId3" cstate="print"/>
          <a:stretch>
            <a:fillRect/>
          </a:stretch>
        </p:blipFill>
        <p:spPr>
          <a:xfrm>
            <a:off x="7366635" y="1061085"/>
            <a:ext cx="4396105" cy="22307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stretch>
            <a:fillRect/>
          </a:stretch>
        </p:blipFill>
        <p:spPr>
          <a:xfrm>
            <a:off x="320040" y="1093470"/>
            <a:ext cx="4304665" cy="4956175"/>
          </a:xfrm>
          <a:prstGeom prst="rect">
            <a:avLst/>
          </a:prstGeom>
        </p:spPr>
      </p:pic>
      <p:pic>
        <p:nvPicPr>
          <p:cNvPr id="6" name="Picture 5"/>
          <p:cNvPicPr>
            <a:picLocks noChangeAspect="1"/>
          </p:cNvPicPr>
          <p:nvPr/>
        </p:nvPicPr>
        <p:blipFill>
          <a:blip r:embed="rId3" cstate="print"/>
          <a:stretch>
            <a:fillRect/>
          </a:stretch>
        </p:blipFill>
        <p:spPr>
          <a:xfrm>
            <a:off x="4564380" y="1094740"/>
            <a:ext cx="3792220" cy="3830320"/>
          </a:xfrm>
          <a:prstGeom prst="rect">
            <a:avLst/>
          </a:prstGeom>
        </p:spPr>
      </p:pic>
      <p:sp>
        <p:nvSpPr>
          <p:cNvPr id="7" name="Rectangles 6"/>
          <p:cNvSpPr/>
          <p:nvPr/>
        </p:nvSpPr>
        <p:spPr>
          <a:xfrm>
            <a:off x="511810" y="1540510"/>
            <a:ext cx="3768090" cy="1236345"/>
          </a:xfrm>
          <a:prstGeom prst="rect">
            <a:avLst/>
          </a:prstGeom>
          <a:noFill/>
          <a:ln w="38100">
            <a:solidFill>
              <a:srgbClr val="FF0000"/>
            </a:solidFill>
          </a:ln>
          <a:extLst>
            <a:ext uri="{909E8E84-426E-40DD-AFC4-6F175D3DCCD1}">
              <a14:hiddenFill xmlns:a14="http://schemas.microsoft.com/office/drawing/2010/main" xmlns="">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8" name="Rectangles 7"/>
          <p:cNvSpPr/>
          <p:nvPr/>
        </p:nvSpPr>
        <p:spPr>
          <a:xfrm>
            <a:off x="4592955" y="1515110"/>
            <a:ext cx="3768090" cy="1354455"/>
          </a:xfrm>
          <a:prstGeom prst="rect">
            <a:avLst/>
          </a:prstGeom>
          <a:noFill/>
          <a:ln w="38100">
            <a:solidFill>
              <a:srgbClr val="FF0000"/>
            </a:solidFill>
          </a:ln>
          <a:extLst>
            <a:ext uri="{909E8E84-426E-40DD-AFC4-6F175D3DCCD1}">
              <a14:hiddenFill xmlns:a14="http://schemas.microsoft.com/office/drawing/2010/main" xmlns="">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773680" y="363855"/>
            <a:ext cx="7310755" cy="398780"/>
          </a:xfrm>
          <a:prstGeom prst="rect">
            <a:avLst/>
          </a:prstGeom>
        </p:spPr>
        <p:txBody>
          <a:bodyPr wrap="square">
            <a:spAutoFit/>
          </a:bodyPr>
          <a:lstStyle/>
          <a:p>
            <a:r>
              <a:rPr sz="2000" b="1">
                <a:solidFill>
                  <a:srgbClr val="2C2926"/>
                </a:solidFill>
                <a:latin typeface="Times New Roman" panose="02020603050405020304" charset="0"/>
                <a:ea typeface="BricolageGrotesque-SemiBold"/>
                <a:cs typeface="Times New Roman" panose="02020603050405020304" charset="0"/>
              </a:rPr>
              <a:t>From M2M to IoT: Evolution and Value Chains</a:t>
            </a:r>
          </a:p>
        </p:txBody>
      </p:sp>
      <p:sp>
        <p:nvSpPr>
          <p:cNvPr id="3" name="Text Box 2"/>
          <p:cNvSpPr txBox="1"/>
          <p:nvPr/>
        </p:nvSpPr>
        <p:spPr>
          <a:xfrm>
            <a:off x="168275" y="995045"/>
            <a:ext cx="11751310" cy="5507990"/>
          </a:xfrm>
          <a:prstGeom prst="rect">
            <a:avLst/>
          </a:prstGeom>
        </p:spPr>
        <p:txBody>
          <a:bodyPr wrap="square">
            <a:spAutoFit/>
          </a:bodyPr>
          <a:lstStyle/>
          <a:p>
            <a:r>
              <a:rPr lang="en-US" altLang="en-US" sz="1600">
                <a:solidFill>
                  <a:srgbClr val="2C2926"/>
                </a:solidFill>
                <a:latin typeface="Times New Roman" panose="02020603050405020304" charset="0"/>
                <a:ea typeface="Inter"/>
                <a:cs typeface="Times New Roman" panose="02020603050405020304" charset="0"/>
                <a:sym typeface="+mn-ea"/>
              </a:rPr>
              <a:t>Machine-to-Machine (M2M) communication refers to the direct communication between devices using wired or wireless channels, without human intervention. </a:t>
            </a:r>
            <a:r>
              <a:rPr lang="en-US" altLang="en-US" sz="1600" b="1">
                <a:solidFill>
                  <a:srgbClr val="2C2926"/>
                </a:solidFill>
                <a:latin typeface="Times New Roman" panose="02020603050405020304" charset="0"/>
                <a:ea typeface="Inter"/>
                <a:cs typeface="Times New Roman" panose="02020603050405020304" charset="0"/>
                <a:sym typeface="+mn-ea"/>
              </a:rPr>
              <a:t>Application:</a:t>
            </a:r>
            <a:r>
              <a:rPr lang="en-US" altLang="en-US" sz="1600">
                <a:solidFill>
                  <a:srgbClr val="2C2926"/>
                </a:solidFill>
                <a:latin typeface="Times New Roman" panose="02020603050405020304" charset="0"/>
                <a:ea typeface="Inter"/>
                <a:cs typeface="Times New Roman" panose="02020603050405020304" charset="0"/>
                <a:sym typeface="+mn-ea"/>
              </a:rPr>
              <a:t> Utility Meters for electricity, gas, and water meters, Industrial Monitoring, Vending Machines etc.</a:t>
            </a:r>
            <a:endParaRPr lang="en-US" altLang="en-US" sz="1600">
              <a:solidFill>
                <a:srgbClr val="2C2926"/>
              </a:solidFill>
              <a:latin typeface="Times New Roman" panose="02020603050405020304" charset="0"/>
              <a:ea typeface="Inter"/>
              <a:cs typeface="Times New Roman" panose="02020603050405020304" charset="0"/>
            </a:endParaRPr>
          </a:p>
          <a:p>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b="1">
                <a:solidFill>
                  <a:srgbClr val="2C2926"/>
                </a:solidFill>
                <a:latin typeface="Times New Roman" panose="02020603050405020304" charset="0"/>
                <a:ea typeface="Inter"/>
                <a:cs typeface="Times New Roman" panose="02020603050405020304" charset="0"/>
              </a:rPr>
              <a:t>Limitations Leading to IoT Evolution</a:t>
            </a:r>
          </a:p>
          <a:p>
            <a:r>
              <a:rPr sz="1600">
                <a:solidFill>
                  <a:srgbClr val="2C2926"/>
                </a:solidFill>
                <a:latin typeface="Times New Roman" panose="02020603050405020304" charset="0"/>
                <a:ea typeface="Inter"/>
                <a:cs typeface="Times New Roman" panose="02020603050405020304" charset="0"/>
              </a:rPr>
              <a:t>(IoT) represents a significant evolution from Machine-to-Machine (M2M) communication, </a:t>
            </a:r>
          </a:p>
          <a:p>
            <a:r>
              <a:rPr sz="1600">
                <a:solidFill>
                  <a:srgbClr val="2C2926"/>
                </a:solidFill>
                <a:latin typeface="Times New Roman" panose="02020603050405020304" charset="0"/>
                <a:ea typeface="Inter"/>
                <a:cs typeface="Times New Roman" panose="02020603050405020304" charset="0"/>
              </a:rPr>
              <a:t>fundamentally transform</a:t>
            </a:r>
            <a:r>
              <a:rPr lang="en-US" sz="1600">
                <a:solidFill>
                  <a:srgbClr val="2C2926"/>
                </a:solidFill>
                <a:latin typeface="Times New Roman" panose="02020603050405020304" charset="0"/>
                <a:ea typeface="Inter"/>
                <a:cs typeface="Times New Roman" panose="02020603050405020304" charset="0"/>
              </a:rPr>
              <a:t>s</a:t>
            </a:r>
            <a:r>
              <a:rPr sz="1600">
                <a:solidFill>
                  <a:srgbClr val="2C2926"/>
                </a:solidFill>
                <a:latin typeface="Times New Roman" panose="02020603050405020304" charset="0"/>
                <a:ea typeface="Inter"/>
                <a:cs typeface="Times New Roman" panose="02020603050405020304" charset="0"/>
              </a:rPr>
              <a:t> how data is collected, processed, and utilized to create new value chains. </a:t>
            </a:r>
          </a:p>
          <a:p>
            <a:r>
              <a:rPr lang="en-US" altLang="en-US" sz="1600">
                <a:solidFill>
                  <a:srgbClr val="2C2926"/>
                </a:solidFill>
                <a:latin typeface="Times New Roman" panose="02020603050405020304" charset="0"/>
                <a:ea typeface="Inter"/>
                <a:cs typeface="Times New Roman" panose="02020603050405020304" charset="0"/>
              </a:rPr>
              <a:t>M2M uses Point-to-Point Communication but IOT provides Internet Connectivity</a:t>
            </a:r>
          </a:p>
          <a:p>
            <a:r>
              <a:rPr lang="en-US" altLang="en-US" sz="1600">
                <a:solidFill>
                  <a:srgbClr val="2C2926"/>
                </a:solidFill>
                <a:latin typeface="Times New Roman" panose="02020603050405020304" charset="0"/>
                <a:ea typeface="Inter"/>
                <a:cs typeface="Times New Roman" panose="02020603050405020304" charset="0"/>
              </a:rPr>
              <a:t>M2M uses Data Telemetry but IOT uses Data Analytics, ML &amp; AI</a:t>
            </a:r>
          </a:p>
          <a:p>
            <a:r>
              <a:rPr lang="en-US" altLang="en-US" sz="1600">
                <a:solidFill>
                  <a:srgbClr val="2C2926"/>
                </a:solidFill>
                <a:latin typeface="Times New Roman" panose="02020603050405020304" charset="0"/>
                <a:ea typeface="Inter"/>
                <a:cs typeface="Times New Roman" panose="02020603050405020304" charset="0"/>
              </a:rPr>
              <a:t>M2M is applied for limited vendors but IOT is applied for Real-time Processing for vast data &amp; purpose</a:t>
            </a:r>
          </a:p>
          <a:p>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b="1">
                <a:solidFill>
                  <a:srgbClr val="2C2926"/>
                </a:solidFill>
                <a:latin typeface="Times New Roman" panose="02020603050405020304" charset="0"/>
                <a:ea typeface="Inter"/>
                <a:cs typeface="Times New Roman" panose="02020603050405020304" charset="0"/>
              </a:rPr>
              <a:t>Key Characteristics of M2M</a:t>
            </a:r>
          </a:p>
          <a:p>
            <a:r>
              <a:rPr lang="en-US" altLang="en-US" sz="1600">
                <a:solidFill>
                  <a:srgbClr val="2C2926"/>
                </a:solidFill>
                <a:latin typeface="Times New Roman" panose="02020603050405020304" charset="0"/>
                <a:ea typeface="Inter"/>
                <a:cs typeface="Times New Roman" panose="02020603050405020304" charset="0"/>
              </a:rPr>
              <a:t>Direct Device Communication.</a:t>
            </a:r>
          </a:p>
          <a:p>
            <a:r>
              <a:rPr lang="en-US" altLang="en-US" sz="1600">
                <a:solidFill>
                  <a:srgbClr val="2C2926"/>
                </a:solidFill>
                <a:latin typeface="Times New Roman" panose="02020603050405020304" charset="0"/>
                <a:ea typeface="Inter"/>
                <a:cs typeface="Times New Roman" panose="02020603050405020304" charset="0"/>
              </a:rPr>
              <a:t>Automated Data Exchange</a:t>
            </a:r>
          </a:p>
          <a:p>
            <a:r>
              <a:rPr lang="en-US" altLang="en-US" sz="1600">
                <a:solidFill>
                  <a:srgbClr val="2C2926"/>
                </a:solidFill>
                <a:latin typeface="Times New Roman" panose="02020603050405020304" charset="0"/>
                <a:ea typeface="Inter"/>
                <a:cs typeface="Times New Roman" panose="02020603050405020304" charset="0"/>
              </a:rPr>
              <a:t>Minimal Human Intervention</a:t>
            </a:r>
          </a:p>
          <a:p>
            <a:r>
              <a:rPr lang="en-US" altLang="en-US" sz="1600">
                <a:solidFill>
                  <a:srgbClr val="2C2926"/>
                </a:solidFill>
                <a:latin typeface="Times New Roman" panose="02020603050405020304" charset="0"/>
                <a:ea typeface="Inter"/>
                <a:cs typeface="Times New Roman" panose="02020603050405020304" charset="0"/>
              </a:rPr>
              <a:t>Proprietary Nature</a:t>
            </a:r>
          </a:p>
          <a:p>
            <a:r>
              <a:rPr lang="en-US" altLang="en-US" sz="1600">
                <a:solidFill>
                  <a:srgbClr val="2C2926"/>
                </a:solidFill>
                <a:latin typeface="Times New Roman" panose="02020603050405020304" charset="0"/>
                <a:ea typeface="Inter"/>
                <a:cs typeface="Times New Roman" panose="02020603050405020304" charset="0"/>
              </a:rPr>
              <a:t>Specific Applications</a:t>
            </a:r>
          </a:p>
          <a:p>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b="1">
                <a:solidFill>
                  <a:srgbClr val="2C2926"/>
                </a:solidFill>
                <a:latin typeface="Times New Roman" panose="02020603050405020304" charset="0"/>
                <a:ea typeface="Inter"/>
                <a:cs typeface="Times New Roman" panose="02020603050405020304" charset="0"/>
              </a:rPr>
              <a:t>M2M Architecture Components</a:t>
            </a:r>
          </a:p>
          <a:p>
            <a:r>
              <a:rPr lang="en-US" altLang="en-US" sz="1600">
                <a:solidFill>
                  <a:srgbClr val="2C2926"/>
                </a:solidFill>
                <a:latin typeface="Times New Roman" panose="02020603050405020304" charset="0"/>
                <a:ea typeface="Inter"/>
                <a:cs typeface="Times New Roman" panose="02020603050405020304" charset="0"/>
              </a:rPr>
              <a:t>M2M Devices</a:t>
            </a:r>
          </a:p>
          <a:p>
            <a:r>
              <a:rPr lang="en-US" altLang="en-US" sz="1600">
                <a:solidFill>
                  <a:srgbClr val="2C2926"/>
                </a:solidFill>
                <a:latin typeface="Times New Roman" panose="02020603050405020304" charset="0"/>
                <a:ea typeface="Inter"/>
                <a:cs typeface="Times New Roman" panose="02020603050405020304" charset="0"/>
              </a:rPr>
              <a:t>Communication Networks</a:t>
            </a:r>
          </a:p>
          <a:p>
            <a:r>
              <a:rPr lang="en-US" altLang="en-US" sz="1600">
                <a:solidFill>
                  <a:srgbClr val="2C2926"/>
                </a:solidFill>
                <a:latin typeface="Times New Roman" panose="02020603050405020304" charset="0"/>
                <a:ea typeface="Inter"/>
                <a:cs typeface="Times New Roman" panose="02020603050405020304" charset="0"/>
              </a:rPr>
              <a:t>M2M Middleware</a:t>
            </a:r>
          </a:p>
          <a:p>
            <a:r>
              <a:rPr lang="en-US" altLang="en-US" sz="1600">
                <a:solidFill>
                  <a:srgbClr val="2C2926"/>
                </a:solidFill>
                <a:latin typeface="Times New Roman" panose="02020603050405020304" charset="0"/>
                <a:ea typeface="Inter"/>
                <a:cs typeface="Times New Roman" panose="02020603050405020304" charset="0"/>
              </a:rPr>
              <a:t>M2M Applications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86360" y="155575"/>
            <a:ext cx="11729085" cy="3488690"/>
          </a:xfrm>
          <a:prstGeom prst="rect">
            <a:avLst/>
          </a:prstGeom>
        </p:spPr>
        <p:txBody>
          <a:bodyPr wrap="square">
            <a:noAutofit/>
          </a:bodyPr>
          <a:lstStyle/>
          <a:p>
            <a:r>
              <a:rPr sz="3100">
                <a:solidFill>
                  <a:srgbClr val="2C2926"/>
                </a:solidFill>
                <a:latin typeface="Times New Roman" panose="02020603050405020304" charset="0"/>
                <a:ea typeface="BricolageGrotesque-SemiBold"/>
                <a:cs typeface="Times New Roman" panose="02020603050405020304" charset="0"/>
              </a:rPr>
              <a:t>IoT Infrastructure </a:t>
            </a:r>
          </a:p>
          <a:p>
            <a:r>
              <a:rPr sz="1600">
                <a:solidFill>
                  <a:srgbClr val="2C2926"/>
                </a:solidFill>
                <a:latin typeface="Times New Roman" panose="02020603050405020304" charset="0"/>
                <a:ea typeface="Inter"/>
                <a:cs typeface="Times New Roman" panose="02020603050405020304" charset="0"/>
              </a:rPr>
              <a:t>IoT infrastructure refers to the physical and virtual components that support the entire IoT ecosystem, from device connectivity to data</a:t>
            </a:r>
            <a:r>
              <a:rPr lang="en-US" sz="1600">
                <a:solidFill>
                  <a:srgbClr val="2C2926"/>
                </a:solidFill>
                <a:latin typeface="Times New Roman" panose="02020603050405020304" charset="0"/>
                <a:ea typeface="Inter"/>
                <a:cs typeface="Times New Roman" panose="02020603050405020304" charset="0"/>
              </a:rPr>
              <a:t> </a:t>
            </a:r>
            <a:r>
              <a:rPr sz="1600">
                <a:solidFill>
                  <a:srgbClr val="2C2926"/>
                </a:solidFill>
                <a:latin typeface="Times New Roman" panose="02020603050405020304" charset="0"/>
                <a:ea typeface="Inter"/>
                <a:cs typeface="Times New Roman" panose="02020603050405020304" charset="0"/>
              </a:rPr>
              <a:t>management and application delivery. It forms the backbone for data flow and processing. </a:t>
            </a:r>
          </a:p>
          <a:p>
            <a:r>
              <a:rPr sz="2300">
                <a:solidFill>
                  <a:srgbClr val="2C2926"/>
                </a:solidFill>
                <a:latin typeface="Times New Roman" panose="02020603050405020304" charset="0"/>
                <a:ea typeface="BricolageGrotesque-SemiBold"/>
                <a:cs typeface="Times New Roman" panose="02020603050405020304" charset="0"/>
              </a:rPr>
              <a:t>Key Infrastructure Components </a:t>
            </a:r>
          </a:p>
          <a:p>
            <a:r>
              <a:rPr sz="1600" b="1">
                <a:solidFill>
                  <a:srgbClr val="2C2926"/>
                </a:solidFill>
                <a:latin typeface="Times New Roman" panose="02020603050405020304" charset="0"/>
                <a:ea typeface="Inter-Bold"/>
                <a:cs typeface="Times New Roman" panose="02020603050405020304" charset="0"/>
              </a:rPr>
              <a:t>Edge Devices:</a:t>
            </a:r>
            <a:r>
              <a:rPr sz="1600">
                <a:solidFill>
                  <a:srgbClr val="2C2926"/>
                </a:solidFill>
                <a:latin typeface="Times New Roman" panose="02020603050405020304" charset="0"/>
                <a:ea typeface="Inter"/>
                <a:cs typeface="Times New Roman" panose="02020603050405020304" charset="0"/>
              </a:rPr>
              <a:t> The "things" in IoT, including sensors and actuators. </a:t>
            </a:r>
          </a:p>
          <a:p>
            <a:r>
              <a:rPr sz="1600" b="1">
                <a:solidFill>
                  <a:srgbClr val="2C2926"/>
                </a:solidFill>
                <a:latin typeface="Times New Roman" panose="02020603050405020304" charset="0"/>
                <a:ea typeface="Inter-Bold"/>
                <a:cs typeface="Times New Roman" panose="02020603050405020304" charset="0"/>
              </a:rPr>
              <a:t>Gateways:</a:t>
            </a:r>
            <a:r>
              <a:rPr sz="1600">
                <a:solidFill>
                  <a:srgbClr val="2C2926"/>
                </a:solidFill>
                <a:latin typeface="Times New Roman" panose="02020603050405020304" charset="0"/>
                <a:ea typeface="Inter"/>
                <a:cs typeface="Times New Roman" panose="02020603050405020304" charset="0"/>
              </a:rPr>
              <a:t> Bridge the gap between edge devices and the cloud. </a:t>
            </a:r>
          </a:p>
          <a:p>
            <a:r>
              <a:rPr sz="1600" b="1">
                <a:solidFill>
                  <a:srgbClr val="2C2926"/>
                </a:solidFill>
                <a:latin typeface="Times New Roman" panose="02020603050405020304" charset="0"/>
                <a:ea typeface="Inter-Bold"/>
                <a:cs typeface="Times New Roman" panose="02020603050405020304" charset="0"/>
              </a:rPr>
              <a:t>Cloud Platforms:</a:t>
            </a:r>
            <a:r>
              <a:rPr sz="1600">
                <a:solidFill>
                  <a:srgbClr val="2C2926"/>
                </a:solidFill>
                <a:latin typeface="Times New Roman" panose="02020603050405020304" charset="0"/>
                <a:ea typeface="Inter"/>
                <a:cs typeface="Times New Roman" panose="02020603050405020304" charset="0"/>
              </a:rPr>
              <a:t> Provide robust services for data storage</a:t>
            </a:r>
            <a:r>
              <a:rPr lang="en-US" sz="1600">
                <a:solidFill>
                  <a:srgbClr val="2C2926"/>
                </a:solidFill>
                <a:latin typeface="Times New Roman" panose="02020603050405020304" charset="0"/>
                <a:ea typeface="Inter"/>
                <a:cs typeface="Times New Roman" panose="02020603050405020304" charset="0"/>
              </a:rPr>
              <a:t>,</a:t>
            </a:r>
            <a:r>
              <a:rPr sz="1600">
                <a:solidFill>
                  <a:srgbClr val="2C2926"/>
                </a:solidFill>
                <a:latin typeface="Times New Roman" panose="02020603050405020304" charset="0"/>
                <a:ea typeface="Inter"/>
                <a:cs typeface="Times New Roman" panose="02020603050405020304" charset="0"/>
              </a:rPr>
              <a:t> analytics and application. </a:t>
            </a:r>
          </a:p>
          <a:p>
            <a:r>
              <a:rPr sz="1600" b="1">
                <a:solidFill>
                  <a:srgbClr val="2C2926"/>
                </a:solidFill>
                <a:latin typeface="Times New Roman" panose="02020603050405020304" charset="0"/>
                <a:ea typeface="Inter-Bold"/>
                <a:cs typeface="Times New Roman" panose="02020603050405020304" charset="0"/>
              </a:rPr>
              <a:t>Data Centers:</a:t>
            </a:r>
            <a:r>
              <a:rPr sz="1600">
                <a:solidFill>
                  <a:srgbClr val="2C2926"/>
                </a:solidFill>
                <a:latin typeface="Times New Roman" panose="02020603050405020304" charset="0"/>
                <a:ea typeface="Inter"/>
                <a:cs typeface="Times New Roman" panose="02020603050405020304" charset="0"/>
              </a:rPr>
              <a:t> Centralized facilities for hosting cloud platforms</a:t>
            </a:r>
            <a:r>
              <a:rPr lang="en-US" sz="1600">
                <a:solidFill>
                  <a:srgbClr val="2C2926"/>
                </a:solidFill>
                <a:latin typeface="Times New Roman" panose="02020603050405020304" charset="0"/>
                <a:ea typeface="Inter"/>
                <a:cs typeface="Times New Roman" panose="02020603050405020304" charset="0"/>
              </a:rPr>
              <a:t>.</a:t>
            </a:r>
          </a:p>
          <a:p>
            <a:endParaRPr lang="en-US" sz="1600">
              <a:solidFill>
                <a:srgbClr val="2C2926"/>
              </a:solidFill>
              <a:latin typeface="Times New Roman" panose="02020603050405020304" charset="0"/>
              <a:ea typeface="Inter"/>
              <a:cs typeface="Times New Roman" panose="02020603050405020304" charset="0"/>
            </a:endParaRPr>
          </a:p>
          <a:p>
            <a:r>
              <a:rPr lang="en-US" altLang="en-US" sz="1600" b="1">
                <a:solidFill>
                  <a:srgbClr val="2C2926"/>
                </a:solidFill>
                <a:latin typeface="Times New Roman" panose="02020603050405020304" charset="0"/>
                <a:ea typeface="Inter"/>
                <a:cs typeface="Times New Roman" panose="02020603050405020304" charset="0"/>
              </a:rPr>
              <a:t>Infrastructure Layers</a:t>
            </a:r>
          </a:p>
          <a:p>
            <a:r>
              <a:rPr lang="en-US" altLang="en-US" sz="1600">
                <a:solidFill>
                  <a:srgbClr val="2C2926"/>
                </a:solidFill>
                <a:latin typeface="Times New Roman" panose="02020603050405020304" charset="0"/>
                <a:ea typeface="Inter"/>
                <a:cs typeface="Times New Roman" panose="02020603050405020304" charset="0"/>
              </a:rPr>
              <a:t>01 Device Layer</a:t>
            </a:r>
          </a:p>
          <a:p>
            <a:r>
              <a:rPr lang="en-US" altLang="en-US" sz="1600">
                <a:solidFill>
                  <a:srgbClr val="2C2926"/>
                </a:solidFill>
                <a:latin typeface="Times New Roman" panose="02020603050405020304" charset="0"/>
                <a:ea typeface="Inter"/>
                <a:cs typeface="Times New Roman" panose="02020603050405020304" charset="0"/>
              </a:rPr>
              <a:t>02 Connectivity Layer</a:t>
            </a:r>
          </a:p>
          <a:p>
            <a:r>
              <a:rPr lang="en-US" altLang="en-US" sz="1600">
                <a:solidFill>
                  <a:srgbClr val="2C2926"/>
                </a:solidFill>
                <a:latin typeface="Times New Roman" panose="02020603050405020304" charset="0"/>
                <a:ea typeface="Inter"/>
                <a:cs typeface="Times New Roman" panose="02020603050405020304" charset="0"/>
              </a:rPr>
              <a:t>03 Data Processing Layer</a:t>
            </a:r>
          </a:p>
          <a:p>
            <a:r>
              <a:rPr lang="en-US" altLang="en-US" sz="1600">
                <a:solidFill>
                  <a:srgbClr val="2C2926"/>
                </a:solidFill>
                <a:latin typeface="Times New Roman" panose="02020603050405020304" charset="0"/>
                <a:ea typeface="Inter"/>
                <a:cs typeface="Times New Roman" panose="02020603050405020304" charset="0"/>
              </a:rPr>
              <a:t>04 Application Layer</a:t>
            </a:r>
          </a:p>
          <a:p>
            <a:endParaRPr lang="en-US" altLang="en-US" sz="1600">
              <a:solidFill>
                <a:srgbClr val="2C2926"/>
              </a:solidFill>
              <a:latin typeface="Times New Roman" panose="02020603050405020304" charset="0"/>
              <a:ea typeface="Inter"/>
              <a:cs typeface="Times New Roman" panose="02020603050405020304" charset="0"/>
            </a:endParaRPr>
          </a:p>
        </p:txBody>
      </p:sp>
      <p:pic>
        <p:nvPicPr>
          <p:cNvPr id="5" name="Picture 4"/>
          <p:cNvPicPr>
            <a:picLocks noChangeAspect="1"/>
          </p:cNvPicPr>
          <p:nvPr/>
        </p:nvPicPr>
        <p:blipFill>
          <a:blip r:embed="rId2" cstate="print"/>
          <a:stretch>
            <a:fillRect/>
          </a:stretch>
        </p:blipFill>
        <p:spPr>
          <a:xfrm>
            <a:off x="285115" y="4201795"/>
            <a:ext cx="3544570" cy="1798955"/>
          </a:xfrm>
          <a:prstGeom prst="rect">
            <a:avLst/>
          </a:prstGeom>
        </p:spPr>
      </p:pic>
      <p:sp>
        <p:nvSpPr>
          <p:cNvPr id="6" name="Text Box 5"/>
          <p:cNvSpPr txBox="1"/>
          <p:nvPr/>
        </p:nvSpPr>
        <p:spPr>
          <a:xfrm>
            <a:off x="4587875" y="2614295"/>
            <a:ext cx="7475855" cy="4029075"/>
          </a:xfrm>
          <a:prstGeom prst="rect">
            <a:avLst/>
          </a:prstGeom>
        </p:spPr>
        <p:txBody>
          <a:bodyPr>
            <a:noAutofit/>
          </a:bodyPr>
          <a:lstStyle/>
          <a:p>
            <a:r>
              <a:rPr sz="2000" b="1">
                <a:solidFill>
                  <a:srgbClr val="2C2926"/>
                </a:solidFill>
                <a:latin typeface="Times New Roman" panose="02020603050405020304" charset="0"/>
                <a:ea typeface="BricolageGrotesque-SemiBold"/>
                <a:cs typeface="Times New Roman" panose="02020603050405020304" charset="0"/>
              </a:rPr>
              <a:t>Network Architecture </a:t>
            </a:r>
          </a:p>
          <a:p>
            <a:r>
              <a:rPr sz="1600">
                <a:solidFill>
                  <a:srgbClr val="2C2926"/>
                </a:solidFill>
                <a:latin typeface="Times New Roman" panose="02020603050405020304" charset="0"/>
                <a:ea typeface="Inter"/>
                <a:cs typeface="Times New Roman" panose="02020603050405020304" charset="0"/>
              </a:rPr>
              <a:t>IoT network architecture defines how devices are connected and how data flows through the syste</a:t>
            </a:r>
            <a:r>
              <a:rPr lang="en-US" sz="1600">
                <a:solidFill>
                  <a:srgbClr val="2C2926"/>
                </a:solidFill>
                <a:latin typeface="Times New Roman" panose="02020603050405020304" charset="0"/>
                <a:ea typeface="Inter"/>
                <a:cs typeface="Times New Roman" panose="02020603050405020304" charset="0"/>
              </a:rPr>
              <a:t>m.</a:t>
            </a:r>
          </a:p>
          <a:p>
            <a:endParaRPr lang="en-US" sz="1600">
              <a:solidFill>
                <a:srgbClr val="2C2926"/>
              </a:solidFill>
              <a:latin typeface="Times New Roman" panose="02020603050405020304" charset="0"/>
              <a:ea typeface="Inter"/>
              <a:cs typeface="Times New Roman" panose="02020603050405020304" charset="0"/>
            </a:endParaRPr>
          </a:p>
          <a:p>
            <a:r>
              <a:rPr sz="1600" b="1">
                <a:solidFill>
                  <a:srgbClr val="2C2926"/>
                </a:solidFill>
                <a:latin typeface="Times New Roman" panose="02020603050405020304" charset="0"/>
                <a:ea typeface="BricolageGrotesque-SemiBold"/>
                <a:cs typeface="Times New Roman" panose="02020603050405020304" charset="0"/>
                <a:sym typeface="+mn-ea"/>
              </a:rPr>
              <a:t>Network Design Considerations </a:t>
            </a:r>
            <a:endParaRPr sz="1600" b="1">
              <a:solidFill>
                <a:srgbClr val="2C2926"/>
              </a:solidFill>
              <a:latin typeface="Times New Roman" panose="02020603050405020304" charset="0"/>
              <a:ea typeface="BricolageGrotesque-SemiBold"/>
              <a:cs typeface="Times New Roman" panose="02020603050405020304" charset="0"/>
            </a:endParaRPr>
          </a:p>
          <a:p>
            <a:r>
              <a:rPr sz="1600">
                <a:solidFill>
                  <a:srgbClr val="2C2926"/>
                </a:solidFill>
                <a:latin typeface="Times New Roman" panose="02020603050405020304" charset="0"/>
                <a:ea typeface="Inter-Bold"/>
                <a:cs typeface="Times New Roman" panose="02020603050405020304" charset="0"/>
                <a:sym typeface="+mn-ea"/>
              </a:rPr>
              <a:t>Scalability</a:t>
            </a:r>
            <a:endParaRPr sz="1600">
              <a:solidFill>
                <a:srgbClr val="2C2926"/>
              </a:solidFill>
              <a:latin typeface="Times New Roman" panose="02020603050405020304" charset="0"/>
              <a:ea typeface="Inter-Bold"/>
              <a:cs typeface="Times New Roman" panose="02020603050405020304" charset="0"/>
            </a:endParaRPr>
          </a:p>
          <a:p>
            <a:r>
              <a:rPr sz="1600">
                <a:solidFill>
                  <a:srgbClr val="2C2926"/>
                </a:solidFill>
                <a:latin typeface="Times New Roman" panose="02020603050405020304" charset="0"/>
                <a:ea typeface="Inter-Bold"/>
                <a:cs typeface="Times New Roman" panose="02020603050405020304" charset="0"/>
                <a:sym typeface="+mn-ea"/>
              </a:rPr>
              <a:t>Reliability</a:t>
            </a:r>
            <a:endParaRPr sz="1600">
              <a:solidFill>
                <a:srgbClr val="2C2926"/>
              </a:solidFill>
              <a:latin typeface="Times New Roman" panose="02020603050405020304" charset="0"/>
              <a:ea typeface="Inter-Bold"/>
              <a:cs typeface="Times New Roman" panose="02020603050405020304" charset="0"/>
            </a:endParaRPr>
          </a:p>
          <a:p>
            <a:r>
              <a:rPr sz="1600">
                <a:solidFill>
                  <a:srgbClr val="2C2926"/>
                </a:solidFill>
                <a:latin typeface="Times New Roman" panose="02020603050405020304" charset="0"/>
                <a:ea typeface="Inter-Bold"/>
                <a:cs typeface="Times New Roman" panose="02020603050405020304" charset="0"/>
                <a:sym typeface="+mn-ea"/>
              </a:rPr>
              <a:t>Security</a:t>
            </a:r>
            <a:endParaRPr sz="1600">
              <a:solidFill>
                <a:srgbClr val="2C2926"/>
              </a:solidFill>
              <a:latin typeface="Times New Roman" panose="02020603050405020304" charset="0"/>
              <a:ea typeface="Inter-Bold"/>
              <a:cs typeface="Times New Roman" panose="02020603050405020304" charset="0"/>
            </a:endParaRPr>
          </a:p>
          <a:p>
            <a:r>
              <a:rPr sz="1600">
                <a:solidFill>
                  <a:srgbClr val="2C2926"/>
                </a:solidFill>
                <a:latin typeface="Times New Roman" panose="02020603050405020304" charset="0"/>
                <a:ea typeface="Inter-Bold"/>
                <a:cs typeface="Times New Roman" panose="02020603050405020304" charset="0"/>
                <a:sym typeface="+mn-ea"/>
              </a:rPr>
              <a:t>Latency</a:t>
            </a:r>
            <a:endParaRPr sz="1600">
              <a:solidFill>
                <a:srgbClr val="2C2926"/>
              </a:solidFill>
              <a:latin typeface="Times New Roman" panose="02020603050405020304" charset="0"/>
              <a:ea typeface="Inter"/>
              <a:cs typeface="Times New Roman" panose="02020603050405020304" charset="0"/>
            </a:endParaRPr>
          </a:p>
          <a:p>
            <a:r>
              <a:rPr sz="1600">
                <a:solidFill>
                  <a:srgbClr val="2C2926"/>
                </a:solidFill>
                <a:latin typeface="Times New Roman" panose="02020603050405020304" charset="0"/>
                <a:ea typeface="Inter-Bold"/>
                <a:cs typeface="Times New Roman" panose="02020603050405020304" charset="0"/>
                <a:sym typeface="+mn-ea"/>
              </a:rPr>
              <a:t>Power Consumption</a:t>
            </a:r>
          </a:p>
          <a:p>
            <a:endParaRPr lang="en-US" sz="1600">
              <a:solidFill>
                <a:srgbClr val="2C2926"/>
              </a:solidFill>
              <a:latin typeface="Times New Roman" panose="02020603050405020304" charset="0"/>
              <a:ea typeface="Inter"/>
              <a:cs typeface="Times New Roman" panose="02020603050405020304" charset="0"/>
            </a:endParaRPr>
          </a:p>
          <a:p>
            <a:r>
              <a:rPr sz="1600" b="1">
                <a:solidFill>
                  <a:srgbClr val="2C2926"/>
                </a:solidFill>
                <a:latin typeface="Times New Roman" panose="02020603050405020304" charset="0"/>
                <a:ea typeface="BricolageGrotesque-SemiBold"/>
                <a:cs typeface="Times New Roman" panose="02020603050405020304" charset="0"/>
              </a:rPr>
              <a:t>Common Network Topologies </a:t>
            </a:r>
          </a:p>
          <a:p>
            <a:r>
              <a:rPr sz="1600">
                <a:solidFill>
                  <a:srgbClr val="2C2926"/>
                </a:solidFill>
                <a:latin typeface="Times New Roman" panose="02020603050405020304" charset="0"/>
                <a:ea typeface="BricolageGrotesque-SemiBold"/>
                <a:cs typeface="Times New Roman" panose="02020603050405020304" charset="0"/>
              </a:rPr>
              <a:t>Star Topology </a:t>
            </a:r>
          </a:p>
          <a:p>
            <a:r>
              <a:rPr sz="1600">
                <a:solidFill>
                  <a:srgbClr val="2C2926"/>
                </a:solidFill>
                <a:latin typeface="Times New Roman" panose="02020603050405020304" charset="0"/>
                <a:ea typeface="BricolageGrotesque-SemiBold"/>
                <a:cs typeface="Times New Roman" panose="02020603050405020304" charset="0"/>
              </a:rPr>
              <a:t>Mesh Topology </a:t>
            </a:r>
          </a:p>
          <a:p>
            <a:r>
              <a:rPr sz="1600">
                <a:solidFill>
                  <a:srgbClr val="2C2926"/>
                </a:solidFill>
                <a:latin typeface="Times New Roman" panose="02020603050405020304" charset="0"/>
                <a:ea typeface="BricolageGrotesque-SemiBold"/>
                <a:cs typeface="Times New Roman" panose="02020603050405020304" charset="0"/>
              </a:rPr>
              <a:t>Tree Topology </a:t>
            </a:r>
          </a:p>
          <a:p>
            <a:r>
              <a:rPr sz="1600">
                <a:solidFill>
                  <a:srgbClr val="2C2926"/>
                </a:solidFill>
                <a:latin typeface="Times New Roman" panose="02020603050405020304" charset="0"/>
                <a:ea typeface="BricolageGrotesque-SemiBold"/>
                <a:cs typeface="Times New Roman" panose="02020603050405020304" charset="0"/>
              </a:rPr>
              <a:t>Hybrid Topologies</a:t>
            </a:r>
            <a:r>
              <a:rPr sz="1600">
                <a:solidFill>
                  <a:srgbClr val="2C2926"/>
                </a:solidFill>
                <a:latin typeface="BricolageGrotesque-SemiBold"/>
                <a:ea typeface="BricolageGrotesque-SemiBold"/>
              </a:rPr>
              <a:t> </a:t>
            </a:r>
          </a:p>
          <a:p>
            <a:endParaRPr sz="1600">
              <a:solidFill>
                <a:srgbClr val="2C2926"/>
              </a:solidFill>
              <a:latin typeface="Inter"/>
              <a:ea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43510" y="791210"/>
            <a:ext cx="11480165" cy="4215765"/>
          </a:xfrm>
          <a:prstGeom prst="rect">
            <a:avLst/>
          </a:prstGeom>
        </p:spPr>
        <p:txBody>
          <a:bodyPr wrap="square">
            <a:spAutoFit/>
          </a:bodyPr>
          <a:lstStyle/>
          <a:p>
            <a:r>
              <a:rPr b="1">
                <a:solidFill>
                  <a:srgbClr val="2C2926"/>
                </a:solidFill>
                <a:latin typeface="Times New Roman" panose="02020603050405020304" charset="0"/>
                <a:ea typeface="BricolageGrotesque-SemiBold"/>
                <a:cs typeface="Times New Roman" panose="02020603050405020304" charset="0"/>
              </a:rPr>
              <a:t>Communication Protocols </a:t>
            </a:r>
          </a:p>
          <a:p>
            <a:r>
              <a:rPr>
                <a:solidFill>
                  <a:srgbClr val="2C2926"/>
                </a:solidFill>
                <a:latin typeface="Times New Roman" panose="02020603050405020304" charset="0"/>
                <a:ea typeface="Inter"/>
                <a:cs typeface="Times New Roman" panose="02020603050405020304" charset="0"/>
              </a:rPr>
              <a:t>Communication protocols dictate the rules for data exchange within the IoT network, devices, gateways, and cloud platforms. Protocol selection depends on factors like r</a:t>
            </a:r>
            <a:r>
              <a:rPr b="1">
                <a:solidFill>
                  <a:srgbClr val="2C2926"/>
                </a:solidFill>
                <a:latin typeface="Times New Roman" panose="02020603050405020304" charset="0"/>
                <a:ea typeface="Inter"/>
                <a:cs typeface="Times New Roman" panose="02020603050405020304" charset="0"/>
              </a:rPr>
              <a:t>ange, power consumption, and data rates. </a:t>
            </a:r>
          </a:p>
          <a:p>
            <a:endParaRPr b="1">
              <a:solidFill>
                <a:srgbClr val="2C2926"/>
              </a:solidFill>
              <a:latin typeface="Times New Roman" panose="02020603050405020304" charset="0"/>
              <a:ea typeface="Inter"/>
              <a:cs typeface="Times New Roman" panose="02020603050405020304" charset="0"/>
            </a:endParaRPr>
          </a:p>
          <a:p>
            <a:r>
              <a:rPr sz="1400" b="1">
                <a:solidFill>
                  <a:srgbClr val="2C2926"/>
                </a:solidFill>
                <a:latin typeface="Times New Roman" panose="02020603050405020304" charset="0"/>
                <a:ea typeface="BricolageGrotesque-SemiBold"/>
                <a:cs typeface="Times New Roman" panose="02020603050405020304" charset="0"/>
              </a:rPr>
              <a:t>Short-Range Communication Protocols: </a:t>
            </a:r>
          </a:p>
          <a:p>
            <a:endParaRPr sz="1400" b="1">
              <a:solidFill>
                <a:srgbClr val="2C2926"/>
              </a:solidFill>
              <a:latin typeface="Times New Roman" panose="02020603050405020304" charset="0"/>
              <a:ea typeface="BricolageGrotesque-SemiBold"/>
              <a:cs typeface="Times New Roman" panose="02020603050405020304" charset="0"/>
            </a:endParaRPr>
          </a:p>
          <a:p>
            <a:r>
              <a:rPr sz="1400" b="1">
                <a:solidFill>
                  <a:srgbClr val="2C2926"/>
                </a:solidFill>
                <a:latin typeface="Times New Roman" panose="02020603050405020304" charset="0"/>
                <a:ea typeface="Inter-Bold"/>
                <a:cs typeface="Times New Roman" panose="02020603050405020304" charset="0"/>
              </a:rPr>
              <a:t>Wi-Fi:</a:t>
            </a:r>
            <a:r>
              <a:rPr sz="1400">
                <a:solidFill>
                  <a:srgbClr val="2C2926"/>
                </a:solidFill>
                <a:latin typeface="Times New Roman" panose="02020603050405020304" charset="0"/>
                <a:ea typeface="Inter"/>
                <a:cs typeface="Times New Roman" panose="02020603050405020304" charset="0"/>
              </a:rPr>
              <a:t> High bandwidth, suitable for local areas </a:t>
            </a:r>
          </a:p>
          <a:p>
            <a:r>
              <a:rPr lang="en-US" sz="1400">
                <a:solidFill>
                  <a:srgbClr val="2C2926"/>
                </a:solidFill>
                <a:latin typeface="Times New Roman" panose="02020603050405020304" charset="0"/>
                <a:ea typeface="Inter"/>
                <a:cs typeface="Times New Roman" panose="02020603050405020304" charset="0"/>
              </a:rPr>
              <a:t>like</a:t>
            </a:r>
            <a:r>
              <a:rPr sz="1400">
                <a:solidFill>
                  <a:srgbClr val="2C2926"/>
                </a:solidFill>
                <a:latin typeface="Times New Roman" panose="02020603050405020304" charset="0"/>
                <a:ea typeface="Inter"/>
                <a:cs typeface="Times New Roman" panose="02020603050405020304" charset="0"/>
              </a:rPr>
              <a:t> smart homes, offices. </a:t>
            </a:r>
          </a:p>
          <a:p>
            <a:r>
              <a:rPr sz="1400" b="1">
                <a:solidFill>
                  <a:srgbClr val="2C2926"/>
                </a:solidFill>
                <a:latin typeface="Times New Roman" panose="02020603050405020304" charset="0"/>
                <a:ea typeface="Inter-Bold"/>
                <a:cs typeface="Times New Roman" panose="02020603050405020304" charset="0"/>
              </a:rPr>
              <a:t>Bluetooth/BLE:</a:t>
            </a:r>
            <a:r>
              <a:rPr sz="1400">
                <a:solidFill>
                  <a:srgbClr val="2C2926"/>
                </a:solidFill>
                <a:latin typeface="Times New Roman" panose="02020603050405020304" charset="0"/>
                <a:ea typeface="Inter"/>
                <a:cs typeface="Times New Roman" panose="02020603050405020304" charset="0"/>
              </a:rPr>
              <a:t> Low power, short</a:t>
            </a:r>
            <a:r>
              <a:rPr lang="en-US" sz="1400">
                <a:solidFill>
                  <a:srgbClr val="2C2926"/>
                </a:solidFill>
                <a:latin typeface="Times New Roman" panose="02020603050405020304" charset="0"/>
                <a:ea typeface="Inter"/>
                <a:cs typeface="Times New Roman" panose="02020603050405020304" charset="0"/>
              </a:rPr>
              <a:t> </a:t>
            </a:r>
            <a:r>
              <a:rPr sz="1400">
                <a:solidFill>
                  <a:srgbClr val="2C2926"/>
                </a:solidFill>
                <a:latin typeface="Times New Roman" panose="02020603050405020304" charset="0"/>
                <a:ea typeface="Inter"/>
                <a:cs typeface="Times New Roman" panose="02020603050405020304" charset="0"/>
              </a:rPr>
              <a:t>range, ideal for </a:t>
            </a:r>
          </a:p>
          <a:p>
            <a:r>
              <a:rPr sz="1400">
                <a:solidFill>
                  <a:srgbClr val="2C2926"/>
                </a:solidFill>
                <a:latin typeface="Times New Roman" panose="02020603050405020304" charset="0"/>
                <a:ea typeface="Inter"/>
                <a:cs typeface="Times New Roman" panose="02020603050405020304" charset="0"/>
              </a:rPr>
              <a:t>wearables, personal devices, and small sensor networks. </a:t>
            </a:r>
          </a:p>
          <a:p>
            <a:r>
              <a:rPr sz="1400" b="1">
                <a:solidFill>
                  <a:srgbClr val="2C2926"/>
                </a:solidFill>
                <a:latin typeface="Times New Roman" panose="02020603050405020304" charset="0"/>
                <a:ea typeface="Inter-Bold"/>
                <a:cs typeface="Times New Roman" panose="02020603050405020304" charset="0"/>
              </a:rPr>
              <a:t>Zigbee &amp; Z-Wave:</a:t>
            </a:r>
            <a:r>
              <a:rPr sz="1400">
                <a:solidFill>
                  <a:srgbClr val="2C2926"/>
                </a:solidFill>
                <a:latin typeface="Times New Roman" panose="02020603050405020304" charset="0"/>
                <a:ea typeface="Inter"/>
                <a:cs typeface="Times New Roman" panose="02020603050405020304" charset="0"/>
              </a:rPr>
              <a:t> Low power mesh networking </a:t>
            </a:r>
          </a:p>
          <a:p>
            <a:r>
              <a:rPr sz="1400">
                <a:solidFill>
                  <a:srgbClr val="2C2926"/>
                </a:solidFill>
                <a:latin typeface="Times New Roman" panose="02020603050405020304" charset="0"/>
                <a:ea typeface="Inter"/>
                <a:cs typeface="Times New Roman" panose="02020603050405020304" charset="0"/>
              </a:rPr>
              <a:t>protocols, commonly used for reliable smart home </a:t>
            </a:r>
          </a:p>
          <a:p>
            <a:r>
              <a:rPr sz="1400">
                <a:solidFill>
                  <a:srgbClr val="2C2926"/>
                </a:solidFill>
                <a:latin typeface="Times New Roman" panose="02020603050405020304" charset="0"/>
                <a:ea typeface="Inter"/>
                <a:cs typeface="Times New Roman" panose="02020603050405020304" charset="0"/>
              </a:rPr>
              <a:t>automation, forming local area network </a:t>
            </a:r>
          </a:p>
          <a:p>
            <a:r>
              <a:rPr sz="1400">
                <a:solidFill>
                  <a:srgbClr val="2C2926"/>
                </a:solidFill>
                <a:latin typeface="Times New Roman" panose="02020603050405020304" charset="0"/>
                <a:ea typeface="Inter"/>
                <a:cs typeface="Times New Roman" panose="02020603050405020304" charset="0"/>
              </a:rPr>
              <a:t>architecture. </a:t>
            </a:r>
          </a:p>
          <a:p>
            <a:r>
              <a:rPr sz="1400" b="1">
                <a:solidFill>
                  <a:srgbClr val="2C2926"/>
                </a:solidFill>
                <a:latin typeface="Times New Roman" panose="02020603050405020304" charset="0"/>
                <a:ea typeface="Inter-Bold"/>
                <a:cs typeface="Times New Roman" panose="02020603050405020304" charset="0"/>
              </a:rPr>
              <a:t>NFC (Near Field Communication):</a:t>
            </a:r>
            <a:r>
              <a:rPr sz="1400">
                <a:solidFill>
                  <a:srgbClr val="2C2926"/>
                </a:solidFill>
                <a:latin typeface="Times New Roman" panose="02020603050405020304" charset="0"/>
                <a:ea typeface="Inter"/>
                <a:cs typeface="Times New Roman" panose="02020603050405020304" charset="0"/>
              </a:rPr>
              <a:t> Very short_x0002_</a:t>
            </a:r>
          </a:p>
          <a:p>
            <a:r>
              <a:rPr sz="1400">
                <a:solidFill>
                  <a:srgbClr val="2C2926"/>
                </a:solidFill>
                <a:latin typeface="Times New Roman" panose="02020603050405020304" charset="0"/>
                <a:ea typeface="Inter"/>
                <a:cs typeface="Times New Roman" panose="02020603050405020304" charset="0"/>
              </a:rPr>
              <a:t>range, secure, used for payments, access control, </a:t>
            </a:r>
          </a:p>
          <a:p>
            <a:r>
              <a:rPr sz="1400">
                <a:solidFill>
                  <a:srgbClr val="2C2926"/>
                </a:solidFill>
                <a:latin typeface="Times New Roman" panose="02020603050405020304" charset="0"/>
                <a:ea typeface="Inter"/>
                <a:cs typeface="Times New Roman" panose="02020603050405020304" charset="0"/>
              </a:rPr>
              <a:t>and tag reading. </a:t>
            </a:r>
          </a:p>
          <a:p>
            <a:endParaRPr sz="1400">
              <a:solidFill>
                <a:srgbClr val="2C2926"/>
              </a:solidFill>
              <a:latin typeface="Times New Roman" panose="02020603050405020304" charset="0"/>
              <a:ea typeface="Inter"/>
              <a:cs typeface="Times New Roman" panose="02020603050405020304" charset="0"/>
            </a:endParaRPr>
          </a:p>
        </p:txBody>
      </p:sp>
      <p:sp>
        <p:nvSpPr>
          <p:cNvPr id="5" name="Text Box 4"/>
          <p:cNvSpPr txBox="1"/>
          <p:nvPr/>
        </p:nvSpPr>
        <p:spPr>
          <a:xfrm>
            <a:off x="4758690" y="1957705"/>
            <a:ext cx="6096000" cy="2676525"/>
          </a:xfrm>
          <a:prstGeom prst="rect">
            <a:avLst/>
          </a:prstGeom>
          <a:noFill/>
        </p:spPr>
        <p:txBody>
          <a:bodyPr wrap="square" rtlCol="0" anchor="t">
            <a:spAutoFit/>
          </a:bodyPr>
          <a:lstStyle/>
          <a:p>
            <a:r>
              <a:rPr sz="1400" b="1">
                <a:solidFill>
                  <a:srgbClr val="2C2926"/>
                </a:solidFill>
                <a:latin typeface="Times New Roman" panose="02020603050405020304" charset="0"/>
                <a:ea typeface="BricolageGrotesque-SemiBold"/>
                <a:cs typeface="Times New Roman" panose="02020603050405020304" charset="0"/>
                <a:sym typeface="+mn-ea"/>
              </a:rPr>
              <a:t>Long-Range (LPWAN) Communication Protocols: </a:t>
            </a:r>
            <a:endParaRPr sz="1400" b="1">
              <a:solidFill>
                <a:srgbClr val="2C2926"/>
              </a:solidFill>
              <a:latin typeface="Times New Roman" panose="02020603050405020304" charset="0"/>
              <a:ea typeface="BricolageGrotesque-SemiBold"/>
              <a:cs typeface="Times New Roman" panose="02020603050405020304" charset="0"/>
            </a:endParaRPr>
          </a:p>
          <a:p>
            <a:endParaRPr sz="1400" b="1">
              <a:solidFill>
                <a:srgbClr val="2C2926"/>
              </a:solidFill>
              <a:latin typeface="Times New Roman" panose="02020603050405020304" charset="0"/>
              <a:ea typeface="BricolageGrotesque-SemiBold"/>
              <a:cs typeface="Times New Roman" panose="02020603050405020304" charset="0"/>
            </a:endParaRPr>
          </a:p>
          <a:p>
            <a:r>
              <a:rPr sz="1400" b="1">
                <a:solidFill>
                  <a:srgbClr val="2C2926"/>
                </a:solidFill>
                <a:latin typeface="Times New Roman" panose="02020603050405020304" charset="0"/>
                <a:ea typeface="Inter-Bold"/>
                <a:cs typeface="Times New Roman" panose="02020603050405020304" charset="0"/>
                <a:sym typeface="+mn-ea"/>
              </a:rPr>
              <a:t>LoRaWAN &amp; NB-IoT:</a:t>
            </a:r>
            <a:r>
              <a:rPr sz="1400">
                <a:solidFill>
                  <a:srgbClr val="2C2926"/>
                </a:solidFill>
                <a:latin typeface="Times New Roman" panose="02020603050405020304" charset="0"/>
                <a:ea typeface="Inter"/>
                <a:cs typeface="Times New Roman" panose="02020603050405020304" charset="0"/>
                <a:sym typeface="+mn-ea"/>
              </a:rPr>
              <a:t> Low power, long-range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solutions for wide-area deployments with small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data packets (e.g., smart cities, agriculture)</a:t>
            </a:r>
            <a:r>
              <a:rPr lang="en-US" sz="1400">
                <a:solidFill>
                  <a:srgbClr val="2C2926"/>
                </a:solidFill>
                <a:latin typeface="Times New Roman" panose="02020603050405020304" charset="0"/>
                <a:ea typeface="Inter"/>
                <a:cs typeface="Times New Roman" panose="02020603050405020304" charset="0"/>
                <a:sym typeface="+mn-ea"/>
              </a:rPr>
              <a:t>.</a:t>
            </a:r>
            <a:endParaRPr sz="1400">
              <a:solidFill>
                <a:srgbClr val="2C2926"/>
              </a:solidFill>
              <a:latin typeface="Times New Roman" panose="02020603050405020304" charset="0"/>
              <a:ea typeface="Inter"/>
              <a:cs typeface="Times New Roman" panose="02020603050405020304" charset="0"/>
            </a:endParaRPr>
          </a:p>
          <a:p>
            <a:r>
              <a:rPr sz="1400" b="1">
                <a:solidFill>
                  <a:srgbClr val="2C2926"/>
                </a:solidFill>
                <a:latin typeface="Times New Roman" panose="02020603050405020304" charset="0"/>
                <a:ea typeface="Inter-Bold"/>
                <a:cs typeface="Times New Roman" panose="02020603050405020304" charset="0"/>
                <a:sym typeface="+mn-ea"/>
              </a:rPr>
              <a:t>Cellular (2G/3G/4G/5G):</a:t>
            </a:r>
            <a:r>
              <a:rPr sz="1400">
                <a:solidFill>
                  <a:srgbClr val="2C2926"/>
                </a:solidFill>
                <a:latin typeface="Times New Roman" panose="02020603050405020304" charset="0"/>
                <a:ea typeface="Inter"/>
                <a:cs typeface="Times New Roman" panose="02020603050405020304" charset="0"/>
                <a:sym typeface="+mn-ea"/>
              </a:rPr>
              <a:t> High bandwidth and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range, reliable for mission-critical applications and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mobile IoT devices. 5G offers ultra-low latency,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crucial for next-gen IoT infrastructure. </a:t>
            </a:r>
            <a:endParaRPr sz="1400">
              <a:solidFill>
                <a:srgbClr val="2C2926"/>
              </a:solidFill>
              <a:latin typeface="Times New Roman" panose="02020603050405020304" charset="0"/>
              <a:ea typeface="Inter"/>
              <a:cs typeface="Times New Roman" panose="02020603050405020304" charset="0"/>
            </a:endParaRPr>
          </a:p>
          <a:p>
            <a:r>
              <a:rPr sz="1400" b="1">
                <a:solidFill>
                  <a:srgbClr val="2C2926"/>
                </a:solidFill>
                <a:latin typeface="Times New Roman" panose="02020603050405020304" charset="0"/>
                <a:ea typeface="Inter-Bold"/>
                <a:cs typeface="Times New Roman" panose="02020603050405020304" charset="0"/>
                <a:sym typeface="+mn-ea"/>
              </a:rPr>
              <a:t>Satellite:</a:t>
            </a:r>
            <a:r>
              <a:rPr sz="1400">
                <a:solidFill>
                  <a:srgbClr val="2C2926"/>
                </a:solidFill>
                <a:latin typeface="Times New Roman" panose="02020603050405020304" charset="0"/>
                <a:ea typeface="Inter"/>
                <a:cs typeface="Times New Roman" panose="02020603050405020304" charset="0"/>
                <a:sym typeface="+mn-ea"/>
              </a:rPr>
              <a:t> Global coverage, essential for remote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asset tracking and areas without terrestrial network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infrastructure</a:t>
            </a:r>
            <a:endParaRPr lang="en-US" sz="1400">
              <a:solidFill>
                <a:srgbClr val="2C2926"/>
              </a:solidFill>
              <a:latin typeface="Times New Roman" panose="02020603050405020304" charset="0"/>
              <a:ea typeface="Inter"/>
              <a:cs typeface="Times New Roman" panose="0202060305040502030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12090" y="482600"/>
            <a:ext cx="11868150" cy="3692525"/>
          </a:xfrm>
          <a:prstGeom prst="rect">
            <a:avLst/>
          </a:prstGeom>
        </p:spPr>
        <p:txBody>
          <a:bodyPr wrap="square">
            <a:spAutoFit/>
          </a:bodyPr>
          <a:lstStyle/>
          <a:p>
            <a:r>
              <a:rPr b="1">
                <a:solidFill>
                  <a:srgbClr val="2C2926"/>
                </a:solidFill>
                <a:latin typeface="Times New Roman" panose="02020603050405020304" charset="0"/>
                <a:ea typeface="BricolageGrotesque-SemiBold"/>
                <a:cs typeface="Times New Roman" panose="02020603050405020304" charset="0"/>
              </a:rPr>
              <a:t>IoT Applications Across Domains </a:t>
            </a:r>
          </a:p>
          <a:p>
            <a:endParaRPr>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Smart Homes &amp; Buildings</a:t>
            </a: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Smart Agriculture</a:t>
            </a: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Smart Cities</a:t>
            </a: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Wearable Technology</a:t>
            </a: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Industrial IoT (IIoT)</a:t>
            </a: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Healthcare &amp; RPM (Remote Patient Monitoring)</a:t>
            </a: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Transportation &amp; Logistics</a:t>
            </a: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Energy &amp; Utilities</a:t>
            </a: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Retail &amp; Supply Chain</a:t>
            </a: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Environmental Monitoring</a:t>
            </a: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Education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759</Words>
  <Application>Microsoft Office PowerPoint</Application>
  <PresentationFormat>Custom</PresentationFormat>
  <Paragraphs>119</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Slide 1</vt:lpstr>
      <vt:lpstr>Slide 2</vt:lpstr>
      <vt:lpstr>Slide 3</vt:lpstr>
      <vt:lpstr>Slide 4</vt:lpstr>
      <vt:lpstr>Slide 5</vt:lpstr>
      <vt:lpstr>Slide 6</vt:lpstr>
      <vt:lpstr>Slide 7</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User</dc:creator>
  <cp:lastModifiedBy>DELL</cp:lastModifiedBy>
  <cp:revision>5</cp:revision>
  <dcterms:created xsi:type="dcterms:W3CDTF">2025-07-23T00:59:00Z</dcterms:created>
  <dcterms:modified xsi:type="dcterms:W3CDTF">2026-01-07T17:57:26Z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1033-12.2.0.23155</vt:lpwstr>
  </property>
</Properties>
</file>